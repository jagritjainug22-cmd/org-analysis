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OrgSight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5960C"/>
                </a:solidFill>
              </a:rPr>
              <a:t>Organizational Structure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25400"/>
          </a:xfrm>
          <a:prstGeom prst="rect">
            <a:avLst/>
          </a:prstGeom>
          <a:solidFill>
            <a:srgbClr val="C5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Scenario: test_2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Dataset: OrgSight_Rationalisation_Test_100rows.xlsx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Exported: 25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AB4"/>
                </a:solidFill>
              </a:rPr>
              <a:t>Confidential — Alvarez &amp; Marsal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Executive Summary — test_2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Current (To-Be)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</a:rPr>
                        <a:t>-7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Total FTE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</a:rPr>
                        <a:t>-7.0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$10,062,350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$9,357,600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</a:rPr>
                        <a:t>$-704,750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0" y="1371600"/>
            <a:ext cx="4389120" cy="4114800"/>
          </a:xfrm>
          <a:prstGeom prst="rect">
            <a:avLst/>
          </a:prstGeom>
          <a:solidFill>
            <a:srgbClr val="FAFB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389120" cy="4114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173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SAVINGS &amp; IMPACT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92024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Full-Year Annualized Savings: </a:t>
            </a:r>
            <a:r>
              <a:rPr sz="1100" b="1">
                <a:solidFill>
                  <a:srgbClr val="27AE60"/>
                </a:solidFill>
              </a:rPr>
              <a:t>$169,300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Prorated In-Year Savings: </a:t>
            </a:r>
            <a:r>
              <a:rPr sz="1100" b="1">
                <a:solidFill>
                  <a:srgbClr val="27AE60"/>
                </a:solidFill>
              </a:rPr>
              <a:t>$98,758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Months Remaining in FY: </a:t>
            </a:r>
            <a:r>
              <a:rPr sz="1100" b="1">
                <a:solidFill>
                  <a:srgbClr val="4F6077"/>
                </a:solidFill>
              </a:rPr>
              <a:t>7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Flagged Removed Roles: </a:t>
            </a:r>
            <a:r>
              <a:rPr sz="1100" b="1">
                <a:solidFill>
                  <a:srgbClr val="4F6077"/>
                </a:solidFill>
              </a:rPr>
              <a:t>10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Flagged Removed Value: </a:t>
            </a:r>
            <a:r>
              <a:rPr sz="1100" b="1">
                <a:solidFill>
                  <a:srgbClr val="4F6077"/>
                </a:solidFill>
              </a:rPr>
              <a:t>$1,014,800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Total Changes Logged: </a:t>
            </a:r>
            <a:r>
              <a:rPr sz="1100" b="1">
                <a:solidFill>
                  <a:srgbClr val="4F6077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Scenario Comparison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Scenario Name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HC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FTE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 HC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 Cost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Changes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$10,372,400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$+310,050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test_scenario [Baseline]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$10,062,350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+0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$+0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244A"/>
                          </a:solidFill>
                        </a:rPr>
                        <a:t>test_2 (Active)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$9,357,600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$-704,750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Implementation Phasing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Adds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Removals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Net HC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Cost Delta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Cum. Cost Delta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Undated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$-169,300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$-169,300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Organization Chart — Overview (L1–L2)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816066"/>
            <a:ext cx="11430000" cy="1500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Change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2743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From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To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75889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2026-06-24 16:03:42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unflag_restore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75889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unflag_restore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2026-06-24 16:04:36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75889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2026-06-24 16:04:39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
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OrgSight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C5960C"/>
                </a:solidFill>
              </a:rPr>
              <a:t>Organizational Structure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25400"/>
          </a:xfrm>
          <a:prstGeom prst="rect">
            <a:avLst/>
          </a:prstGeom>
          <a:solidFill>
            <a:srgbClr val="C5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Scenario: test_2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Dataset: OrgSight_Rationalisation_Test_100rows.xlsx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Exported: 25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9AB4"/>
                </a:solidFill>
              </a:rPr>
              <a:t>Confidential — Alvarez &amp; Marsal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Executive Summary — test_2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Current (To-Be)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</a:rPr>
                        <a:t>-7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Total FTE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97.0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</a:rPr>
                        <a:t>-7.0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$10,062,350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$9,357,600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</a:rPr>
                        <a:t>$-704,750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0" y="1371600"/>
            <a:ext cx="4389120" cy="4114800"/>
          </a:xfrm>
          <a:prstGeom prst="rect">
            <a:avLst/>
          </a:prstGeom>
          <a:solidFill>
            <a:srgbClr val="FAFB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4389120" cy="4114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173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SAVINGS &amp; IMPACT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92024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Full-Year Annualized Savings: </a:t>
            </a:r>
            <a:r>
              <a:rPr sz="1100" b="1">
                <a:solidFill>
                  <a:srgbClr val="27AE60"/>
                </a:solidFill>
              </a:rPr>
              <a:t>$169,300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Prorated In-Year Savings: </a:t>
            </a:r>
            <a:r>
              <a:rPr sz="1100" b="1">
                <a:solidFill>
                  <a:srgbClr val="27AE60"/>
                </a:solidFill>
              </a:rPr>
              <a:t>$98,758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Months Remaining in FY: </a:t>
            </a:r>
            <a:r>
              <a:rPr sz="1100" b="1">
                <a:solidFill>
                  <a:srgbClr val="4F6077"/>
                </a:solidFill>
              </a:rPr>
              <a:t>7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Flagged Removed Roles: </a:t>
            </a:r>
            <a:r>
              <a:rPr sz="1100" b="1">
                <a:solidFill>
                  <a:srgbClr val="4F6077"/>
                </a:solidFill>
              </a:rPr>
              <a:t>10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Flagged Removed Value: </a:t>
            </a:r>
            <a:r>
              <a:rPr sz="1100" b="1">
                <a:solidFill>
                  <a:srgbClr val="4F6077"/>
                </a:solidFill>
              </a:rPr>
              <a:t>$1,014,800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1244A"/>
                </a:solidFill>
              </a:rPr>
              <a:t>Total Changes Logged: </a:t>
            </a:r>
            <a:r>
              <a:rPr sz="1100" b="1">
                <a:solidFill>
                  <a:srgbClr val="4F6077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Scenario Comparison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Scenario Name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HC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FTE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 HC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 Cost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Changes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$10,372,400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$+310,050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test_scenario [Baseline]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97.0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$10,062,350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+0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$+0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244A"/>
                          </a:solidFill>
                        </a:rPr>
                        <a:t>test_2 (Active)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$9,357,600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$-704,750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1244A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Implementation Phasing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Adds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Removals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Net HC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Cost Delta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Cum. Cost Delta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Undated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$-169,300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$-169,300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Organization Chart — Overview (L1–L2)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816066"/>
            <a:ext cx="11430000" cy="15001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General Manager: Commercial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615148"/>
            <a:ext cx="11430000" cy="19020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General Manager: Finance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692538"/>
            <a:ext cx="11430000" cy="17472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General Manager: ERA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528702"/>
            <a:ext cx="11430000" cy="40749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Group Company Secretary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18" y="822960"/>
            <a:ext cx="6181859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General Manager: HSEQ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865179"/>
            <a:ext cx="11430000" cy="1401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General Manager: Lubricants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816066"/>
            <a:ext cx="11430000" cy="15001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Manager,Security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523146"/>
            <a:ext cx="11430000" cy="208602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Chief Marketing Officer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993" y="822959"/>
            <a:ext cx="9515707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General Manager: Supply Chain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18" y="822960"/>
            <a:ext cx="6181859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Manager, Transition, Repurpose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18" y="822960"/>
            <a:ext cx="6181859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Chief Information and Chief Procurement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18" y="822960"/>
            <a:ext cx="6181859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Executive Assistant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18" y="822960"/>
            <a:ext cx="6181859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General Manager: Human Resourc — Team Structure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409765"/>
            <a:ext cx="11430000" cy="23127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Change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1440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27432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From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To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0124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flag_remove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75889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flag_remove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2026-06-24 16:03:42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unflag_restore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75889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unflag_restore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2026-06-24 16:04:36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flag_remove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75889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flag_remove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2026-06-24 16:04:39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46520"/>
            <a:ext cx="11247120" cy="19050"/>
          </a:xfrm>
          <a:prstGeom prst="rect">
            <a:avLst/>
          </a:prstGeom>
          <a:solidFill>
            <a:srgbClr val="01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A9AB4"/>
                </a:solidFill>
              </a:rPr>
              <a:t>OrgSight 2.0  |  test_2  |  Page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